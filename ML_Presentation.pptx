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17"/>
  </p:notes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69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15"/>
    <p:restoredTop sz="94589"/>
  </p:normalViewPr>
  <p:slideViewPr>
    <p:cSldViewPr snapToGrid="0">
      <p:cViewPr varScale="1">
        <p:scale>
          <a:sx n="89" d="100"/>
          <a:sy n="89" d="100"/>
        </p:scale>
        <p:origin x="200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7E3ECB-3204-354E-B1A3-FF9E3ED48EBD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1D02C6-C7FE-E64F-A7BE-D0B256F72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39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9FF31-E66C-8247-9B2E-11663C4B7EC2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DDA7-8638-0D42-9E3C-02DB368D6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69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9FF31-E66C-8247-9B2E-11663C4B7EC2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DDA7-8638-0D42-9E3C-02DB368D6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43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9FF31-E66C-8247-9B2E-11663C4B7EC2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DDA7-8638-0D42-9E3C-02DB368D6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81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9FF31-E66C-8247-9B2E-11663C4B7EC2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DDA7-8638-0D42-9E3C-02DB368D6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335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9FF31-E66C-8247-9B2E-11663C4B7EC2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DDA7-8638-0D42-9E3C-02DB368D6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94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9FF31-E66C-8247-9B2E-11663C4B7EC2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DDA7-8638-0D42-9E3C-02DB368D6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65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9FF31-E66C-8247-9B2E-11663C4B7EC2}" type="datetimeFigureOut">
              <a:rPr lang="en-US" smtClean="0"/>
              <a:t>4/17/26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DDA7-8638-0D42-9E3C-02DB368D6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750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9FF31-E66C-8247-9B2E-11663C4B7EC2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DDA7-8638-0D42-9E3C-02DB368D6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64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9FF31-E66C-8247-9B2E-11663C4B7EC2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DDA7-8638-0D42-9E3C-02DB368D6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434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9FF31-E66C-8247-9B2E-11663C4B7EC2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DDA7-8638-0D42-9E3C-02DB368D6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075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9FF31-E66C-8247-9B2E-11663C4B7EC2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DDA7-8638-0D42-9E3C-02DB368D6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706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5060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19FF31-E66C-8247-9B2E-11663C4B7EC2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DBDDA7-8638-0D42-9E3C-02DB368D6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35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84960"/>
            <a:ext cx="1072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Machine Learning:</a:t>
            </a:r>
            <a:endParaRPr lang="en-US" sz="4000" dirty="0"/>
          </a:p>
          <a:p>
            <a:pPr algn="ctr"/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Readiness &amp; Skill Gap Severity Prediction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901440"/>
            <a:ext cx="107289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H9MLAI Machine Learning  |  MSc Artificial Intelligence  |  NATIONAL COLLEGE OF IRELAD</a:t>
            </a:r>
            <a:endParaRPr lang="en-US" sz="1867" dirty="0"/>
          </a:p>
        </p:txBody>
      </p:sp>
      <p:sp>
        <p:nvSpPr>
          <p:cNvPr id="4" name="Shape 2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243840" y="6242304"/>
            <a:ext cx="11704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Srikaran Sankar  |  24201839  |  NATIONAL COLLEGE OF IRELAND  |  H9MLAI Machine Learning</a:t>
            </a:r>
            <a:endParaRPr lang="en-US" sz="146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960" y="6364224"/>
            <a:ext cx="12192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533" dirty="0"/>
          </a:p>
        </p:txBody>
      </p:sp>
      <p:sp>
        <p:nvSpPr>
          <p:cNvPr id="5" name="Shape 3"/>
          <p:cNvSpPr/>
          <p:nvPr/>
        </p:nvSpPr>
        <p:spPr>
          <a:xfrm>
            <a:off x="609600" y="999744"/>
            <a:ext cx="609600" cy="609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999744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41120" y="1109472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667" dirty="0"/>
          </a:p>
        </p:txBody>
      </p:sp>
      <p:sp>
        <p:nvSpPr>
          <p:cNvPr id="8" name="Shape 6"/>
          <p:cNvSpPr/>
          <p:nvPr/>
        </p:nvSpPr>
        <p:spPr>
          <a:xfrm>
            <a:off x="609600" y="1938528"/>
            <a:ext cx="609600" cy="609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609600" y="1938528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41120" y="2048256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667" dirty="0"/>
          </a:p>
        </p:txBody>
      </p:sp>
      <p:sp>
        <p:nvSpPr>
          <p:cNvPr id="11" name="Shape 9"/>
          <p:cNvSpPr/>
          <p:nvPr/>
        </p:nvSpPr>
        <p:spPr>
          <a:xfrm>
            <a:off x="609600" y="2877312"/>
            <a:ext cx="609600" cy="609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609600" y="2877312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41120" y="298704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667" dirty="0"/>
          </a:p>
        </p:txBody>
      </p:sp>
      <p:sp>
        <p:nvSpPr>
          <p:cNvPr id="14" name="Shape 12"/>
          <p:cNvSpPr/>
          <p:nvPr/>
        </p:nvSpPr>
        <p:spPr>
          <a:xfrm>
            <a:off x="609600" y="3816096"/>
            <a:ext cx="609600" cy="609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609600" y="3816096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41120" y="3925824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Features</a:t>
            </a:r>
            <a:endParaRPr lang="en-US" sz="1667" dirty="0"/>
          </a:p>
        </p:txBody>
      </p:sp>
      <p:sp>
        <p:nvSpPr>
          <p:cNvPr id="17" name="Shape 15"/>
          <p:cNvSpPr/>
          <p:nvPr/>
        </p:nvSpPr>
        <p:spPr>
          <a:xfrm>
            <a:off x="609600" y="4754880"/>
            <a:ext cx="609600" cy="609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609600" y="475488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41120" y="4864608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Models</a:t>
            </a:r>
            <a:endParaRPr lang="en-US" sz="1667" dirty="0"/>
          </a:p>
        </p:txBody>
      </p:sp>
      <p:sp>
        <p:nvSpPr>
          <p:cNvPr id="20" name="Shape 18"/>
          <p:cNvSpPr/>
          <p:nvPr/>
        </p:nvSpPr>
        <p:spPr>
          <a:xfrm>
            <a:off x="609600" y="5693664"/>
            <a:ext cx="609600" cy="609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609600" y="5693664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41120" y="5803392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Model Comparison</a:t>
            </a:r>
            <a:endParaRPr lang="en-US" sz="1667" dirty="0"/>
          </a:p>
        </p:txBody>
      </p:sp>
      <p:sp>
        <p:nvSpPr>
          <p:cNvPr id="23" name="Shape 21"/>
          <p:cNvSpPr/>
          <p:nvPr/>
        </p:nvSpPr>
        <p:spPr>
          <a:xfrm>
            <a:off x="6461760" y="999744"/>
            <a:ext cx="609600" cy="609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6461760" y="999744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93280" y="1109472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Curves</a:t>
            </a:r>
            <a:endParaRPr lang="en-US" sz="1667" dirty="0"/>
          </a:p>
        </p:txBody>
      </p:sp>
      <p:sp>
        <p:nvSpPr>
          <p:cNvPr id="26" name="Shape 24"/>
          <p:cNvSpPr/>
          <p:nvPr/>
        </p:nvSpPr>
        <p:spPr>
          <a:xfrm>
            <a:off x="6461760" y="1938528"/>
            <a:ext cx="609600" cy="609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6461760" y="1938528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93280" y="2048256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Per-class F1</a:t>
            </a:r>
            <a:endParaRPr lang="en-US" sz="1667" dirty="0"/>
          </a:p>
        </p:txBody>
      </p:sp>
      <p:sp>
        <p:nvSpPr>
          <p:cNvPr id="29" name="Shape 27"/>
          <p:cNvSpPr/>
          <p:nvPr/>
        </p:nvSpPr>
        <p:spPr>
          <a:xfrm>
            <a:off x="6461760" y="2877312"/>
            <a:ext cx="609600" cy="609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6461760" y="2877312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93280" y="298704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667" dirty="0"/>
          </a:p>
        </p:txBody>
      </p:sp>
      <p:sp>
        <p:nvSpPr>
          <p:cNvPr id="32" name="Shape 30"/>
          <p:cNvSpPr/>
          <p:nvPr/>
        </p:nvSpPr>
        <p:spPr>
          <a:xfrm>
            <a:off x="6461760" y="3816096"/>
            <a:ext cx="609600" cy="609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6461760" y="3816096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93280" y="3925824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Application</a:t>
            </a:r>
            <a:endParaRPr lang="en-US" sz="1667" dirty="0"/>
          </a:p>
        </p:txBody>
      </p:sp>
      <p:sp>
        <p:nvSpPr>
          <p:cNvPr id="35" name="Shape 33"/>
          <p:cNvSpPr/>
          <p:nvPr/>
        </p:nvSpPr>
        <p:spPr>
          <a:xfrm>
            <a:off x="6461760" y="4754880"/>
            <a:ext cx="609600" cy="609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6461760" y="475488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93280" y="4864608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67" dirty="0"/>
          </a:p>
        </p:txBody>
      </p:sp>
      <p:sp>
        <p:nvSpPr>
          <p:cNvPr id="38" name="Shape 36"/>
          <p:cNvSpPr/>
          <p:nvPr/>
        </p:nvSpPr>
        <p:spPr>
          <a:xfrm>
            <a:off x="6461760" y="5693664"/>
            <a:ext cx="609600" cy="609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9" name="Text 37"/>
          <p:cNvSpPr/>
          <p:nvPr/>
        </p:nvSpPr>
        <p:spPr>
          <a:xfrm>
            <a:off x="6461760" y="5693664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93280" y="5803392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66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960" y="6364224"/>
            <a:ext cx="12192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2533" dirty="0"/>
          </a:p>
        </p:txBody>
      </p:sp>
      <p:sp>
        <p:nvSpPr>
          <p:cNvPr id="5" name="Shape 3"/>
          <p:cNvSpPr/>
          <p:nvPr/>
        </p:nvSpPr>
        <p:spPr>
          <a:xfrm>
            <a:off x="487680" y="999744"/>
            <a:ext cx="3291840" cy="1889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487680" y="999744"/>
            <a:ext cx="3291840" cy="1158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/>
            <a:r>
              <a:rPr lang="en-US" sz="6133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6133" dirty="0"/>
          </a:p>
        </p:txBody>
      </p:sp>
      <p:sp>
        <p:nvSpPr>
          <p:cNvPr id="7" name="Text 5"/>
          <p:cNvSpPr/>
          <p:nvPr/>
        </p:nvSpPr>
        <p:spPr>
          <a:xfrm>
            <a:off x="487680" y="2011680"/>
            <a:ext cx="3291840" cy="829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graduates lack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industry skills</a:t>
            </a:r>
            <a:endParaRPr lang="en-US" sz="1467" dirty="0"/>
          </a:p>
        </p:txBody>
      </p:sp>
      <p:sp>
        <p:nvSpPr>
          <p:cNvPr id="8" name="Shape 6"/>
          <p:cNvSpPr/>
          <p:nvPr/>
        </p:nvSpPr>
        <p:spPr>
          <a:xfrm>
            <a:off x="4145280" y="975360"/>
            <a:ext cx="7559040" cy="1243584"/>
          </a:xfrm>
          <a:prstGeom prst="rect">
            <a:avLst/>
          </a:prstGeom>
          <a:solidFill>
            <a:srgbClr val="ECEFF1"/>
          </a:solidFill>
          <a:ln/>
          <a:effectLst>
            <a:outerShdw blurRad="50800" dist="25400" dir="8100000" algn="bl" rotWithShape="0">
              <a:srgbClr val="AAAAAA">
                <a:alpha val="1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4145280" y="975360"/>
            <a:ext cx="7559040" cy="4267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4267200" y="975360"/>
            <a:ext cx="7315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Skills Gap Crisis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4267200" y="1438656"/>
            <a:ext cx="7315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 lack tech industry skills despite holding degrees — creating unemployment and talent shortages.</a:t>
            </a:r>
            <a:endParaRPr lang="en-US" sz="1333" dirty="0"/>
          </a:p>
        </p:txBody>
      </p:sp>
      <p:sp>
        <p:nvSpPr>
          <p:cNvPr id="12" name="Shape 10"/>
          <p:cNvSpPr/>
          <p:nvPr/>
        </p:nvSpPr>
        <p:spPr>
          <a:xfrm>
            <a:off x="4145280" y="2377440"/>
            <a:ext cx="7559040" cy="1243584"/>
          </a:xfrm>
          <a:prstGeom prst="rect">
            <a:avLst/>
          </a:prstGeom>
          <a:solidFill>
            <a:srgbClr val="ECEFF1"/>
          </a:solidFill>
          <a:ln/>
          <a:effectLst>
            <a:outerShdw blurRad="50800" dist="25400" dir="8100000" algn="bl" rotWithShape="0">
              <a:srgbClr val="AAAAAA">
                <a:alpha val="1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4145280" y="2377440"/>
            <a:ext cx="7559040" cy="4267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4267200" y="2377440"/>
            <a:ext cx="7315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Limitations of Traditional Assessment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4267200" y="2840736"/>
            <a:ext cx="7315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self-report tools are subjective, inconsistent, and cannot scale to large student cohorts.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4145280" y="3779520"/>
            <a:ext cx="7559040" cy="1243584"/>
          </a:xfrm>
          <a:prstGeom prst="rect">
            <a:avLst/>
          </a:prstGeom>
          <a:solidFill>
            <a:srgbClr val="ECEFF1"/>
          </a:solidFill>
          <a:ln/>
          <a:effectLst>
            <a:outerShdw blurRad="50800" dist="25400" dir="8100000" algn="bl" rotWithShape="0">
              <a:srgbClr val="AAAAAA">
                <a:alpha val="1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4145280" y="3779520"/>
            <a:ext cx="7559040" cy="4267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4267200" y="3779520"/>
            <a:ext cx="7315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ML as a Solution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4267200" y="4242816"/>
            <a:ext cx="7315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career readiness prediction from structured multi-attribute student profiles.</a:t>
            </a:r>
            <a:endParaRPr lang="en-US" sz="1333" dirty="0"/>
          </a:p>
        </p:txBody>
      </p:sp>
      <p:sp>
        <p:nvSpPr>
          <p:cNvPr id="20" name="Shape 18"/>
          <p:cNvSpPr/>
          <p:nvPr/>
        </p:nvSpPr>
        <p:spPr>
          <a:xfrm>
            <a:off x="4145280" y="5181600"/>
            <a:ext cx="7559040" cy="1243584"/>
          </a:xfrm>
          <a:prstGeom prst="rect">
            <a:avLst/>
          </a:prstGeom>
          <a:solidFill>
            <a:srgbClr val="ECEFF1"/>
          </a:solidFill>
          <a:ln/>
          <a:effectLst>
            <a:outerShdw blurRad="50800" dist="25400" dir="8100000" algn="bl" rotWithShape="0">
              <a:srgbClr val="AAAAAA">
                <a:alpha val="1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4145280" y="5181600"/>
            <a:ext cx="7559040" cy="4267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4267200" y="5181600"/>
            <a:ext cx="7315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Institutional Impact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4267200" y="5644896"/>
            <a:ext cx="7315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universities to redesign curricula, guide career advisors, and narrow the education-employment gap.</a:t>
            </a:r>
            <a:endParaRPr lang="en-US" sz="13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960" y="6364224"/>
            <a:ext cx="12192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2533" dirty="0"/>
          </a:p>
        </p:txBody>
      </p:sp>
      <p:sp>
        <p:nvSpPr>
          <p:cNvPr id="5" name="Shape 3"/>
          <p:cNvSpPr/>
          <p:nvPr/>
        </p:nvSpPr>
        <p:spPr>
          <a:xfrm>
            <a:off x="609600" y="999744"/>
            <a:ext cx="10972800" cy="3048000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609600" y="999744"/>
            <a:ext cx="146304" cy="304800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950976" y="1121664"/>
            <a:ext cx="10363200" cy="2804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ML algorithm family — ensemble (Random Forest), kernel (SVM-RBF), or transformer (BERT) — provides the optimal balance of predictive quality (F1-score, AUC-ROC), inference latency, and interpretability when classifying career readiness and predicting skill gap severity (Low / Medium / High) on structured student profiles; and how can the resulting model be operationalised in a real-time career advisory application?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609600" y="4291584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Compared: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609600" y="4815840"/>
            <a:ext cx="3413760" cy="7924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609600" y="4815840"/>
            <a:ext cx="341376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733" dirty="0"/>
          </a:p>
        </p:txBody>
      </p:sp>
      <p:sp>
        <p:nvSpPr>
          <p:cNvPr id="11" name="Shape 9"/>
          <p:cNvSpPr/>
          <p:nvPr/>
        </p:nvSpPr>
        <p:spPr>
          <a:xfrm>
            <a:off x="4389120" y="4815840"/>
            <a:ext cx="3413760" cy="79248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4389120" y="4815840"/>
            <a:ext cx="341376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SVM-RBF</a:t>
            </a:r>
            <a:endParaRPr lang="en-US" sz="1733" dirty="0"/>
          </a:p>
        </p:txBody>
      </p:sp>
      <p:sp>
        <p:nvSpPr>
          <p:cNvPr id="13" name="Shape 11"/>
          <p:cNvSpPr/>
          <p:nvPr/>
        </p:nvSpPr>
        <p:spPr>
          <a:xfrm>
            <a:off x="8168640" y="4815840"/>
            <a:ext cx="3413760" cy="7924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8168640" y="4815840"/>
            <a:ext cx="341376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(Transformer)</a:t>
            </a:r>
            <a:endParaRPr lang="en-US" sz="173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960" y="6364224"/>
            <a:ext cx="12192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533" dirty="0"/>
          </a:p>
        </p:txBody>
      </p:sp>
      <p:sp>
        <p:nvSpPr>
          <p:cNvPr id="5" name="Shape 3"/>
          <p:cNvSpPr/>
          <p:nvPr/>
        </p:nvSpPr>
        <p:spPr>
          <a:xfrm>
            <a:off x="365760" y="999744"/>
            <a:ext cx="11460480" cy="1280160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548640" y="1060704"/>
            <a:ext cx="390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Castro-Lopez et al. (2022)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548640" y="1426464"/>
            <a:ext cx="6705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DT + LR on academic data → employment prediction beyond GPA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7376160" y="1085088"/>
            <a:ext cx="4145280" cy="1072896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7498080" y="1146048"/>
            <a:ext cx="390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Missing soft skills &amp; career aspirations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365760" y="2401824"/>
            <a:ext cx="11460480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548640" y="2462784"/>
            <a:ext cx="390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Romero &amp; Ventura (2010)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548640" y="2828544"/>
            <a:ext cx="6705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EDM survey: classification &amp; clustering dominate student performance prediction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7376160" y="2487168"/>
            <a:ext cx="4145280" cy="1072896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7498080" y="2548128"/>
            <a:ext cx="390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Limited to single-task settings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365760" y="3803904"/>
            <a:ext cx="11460480" cy="1280160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548640" y="3864864"/>
            <a:ext cx="390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Baciu et al. (2024)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548640" y="4230624"/>
            <a:ext cx="6705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Ensemble (RF, GBM) &gt; single classifiers; DL adds marginal gain on tabular data</a:t>
            </a:r>
            <a:endParaRPr lang="en-US" sz="1333" dirty="0"/>
          </a:p>
        </p:txBody>
      </p:sp>
      <p:sp>
        <p:nvSpPr>
          <p:cNvPr id="18" name="Shape 16"/>
          <p:cNvSpPr/>
          <p:nvPr/>
        </p:nvSpPr>
        <p:spPr>
          <a:xfrm>
            <a:off x="7376160" y="3889248"/>
            <a:ext cx="4145280" cy="1072896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7498080" y="3950208"/>
            <a:ext cx="390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NLP feature representation</a:t>
            </a:r>
            <a:endParaRPr lang="en-US" sz="1333" dirty="0"/>
          </a:p>
        </p:txBody>
      </p:sp>
      <p:sp>
        <p:nvSpPr>
          <p:cNvPr id="20" name="Shape 18"/>
          <p:cNvSpPr/>
          <p:nvPr/>
        </p:nvSpPr>
        <p:spPr>
          <a:xfrm>
            <a:off x="365760" y="5205984"/>
            <a:ext cx="11460480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548640" y="5266944"/>
            <a:ext cx="390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[7,8] Sun / Dobrita (2021–25)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548640" y="5632704"/>
            <a:ext cx="6705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Fine-tuned BERT excels on short domain-specific texts; +11pt recall over TF-IDF</a:t>
            </a:r>
            <a:endParaRPr lang="en-US" sz="1333" dirty="0"/>
          </a:p>
        </p:txBody>
      </p:sp>
      <p:sp>
        <p:nvSpPr>
          <p:cNvPr id="23" name="Shape 21"/>
          <p:cNvSpPr/>
          <p:nvPr/>
        </p:nvSpPr>
        <p:spPr>
          <a:xfrm>
            <a:off x="7376160" y="5291328"/>
            <a:ext cx="4145280" cy="1072896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7498080" y="5352288"/>
            <a:ext cx="390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Limited to text-only inputs</a:t>
            </a:r>
            <a:endParaRPr lang="en-US" sz="13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960" y="6364224"/>
            <a:ext cx="12192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Feature Engineering</a:t>
            </a:r>
            <a:endParaRPr lang="en-US" sz="2533" dirty="0"/>
          </a:p>
        </p:txBody>
      </p:sp>
      <p:sp>
        <p:nvSpPr>
          <p:cNvPr id="5" name="Shape 3"/>
          <p:cNvSpPr/>
          <p:nvPr/>
        </p:nvSpPr>
        <p:spPr>
          <a:xfrm>
            <a:off x="365760" y="999744"/>
            <a:ext cx="2682240" cy="1584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365760" y="999744"/>
            <a:ext cx="268224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/>
            <a:r>
              <a:rPr lang="en-US" sz="3733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4,409</a:t>
            </a:r>
            <a:endParaRPr lang="en-US" sz="3733" dirty="0"/>
          </a:p>
        </p:txBody>
      </p:sp>
      <p:sp>
        <p:nvSpPr>
          <p:cNvPr id="7" name="Text 5"/>
          <p:cNvSpPr/>
          <p:nvPr/>
        </p:nvSpPr>
        <p:spPr>
          <a:xfrm>
            <a:off x="365760" y="1889760"/>
            <a:ext cx="26822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Job Postings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(LinkedIn)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3291840" y="999744"/>
            <a:ext cx="2682240" cy="1584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3291840" y="999744"/>
            <a:ext cx="268224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/>
            <a:r>
              <a:rPr lang="en-US" sz="3733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3733" dirty="0"/>
          </a:p>
        </p:txBody>
      </p:sp>
      <p:sp>
        <p:nvSpPr>
          <p:cNvPr id="10" name="Text 8"/>
          <p:cNvSpPr/>
          <p:nvPr/>
        </p:nvSpPr>
        <p:spPr>
          <a:xfrm>
            <a:off x="3291840" y="1889760"/>
            <a:ext cx="26822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(post-engineering)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6217920" y="999744"/>
            <a:ext cx="2682240" cy="1584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6217920" y="999744"/>
            <a:ext cx="268224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/>
            <a:r>
              <a:rPr lang="en-US" sz="3733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733" dirty="0"/>
          </a:p>
        </p:txBody>
      </p:sp>
      <p:sp>
        <p:nvSpPr>
          <p:cNvPr id="13" name="Text 11"/>
          <p:cNvSpPr/>
          <p:nvPr/>
        </p:nvSpPr>
        <p:spPr>
          <a:xfrm>
            <a:off x="6217920" y="1889760"/>
            <a:ext cx="26822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9144000" y="999744"/>
            <a:ext cx="2682240" cy="1584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9144000" y="999744"/>
            <a:ext cx="268224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/>
            <a:r>
              <a:rPr lang="en-US" sz="3733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</a:t>
            </a:r>
            <a:endParaRPr lang="en-US" sz="3733" dirty="0"/>
          </a:p>
        </p:txBody>
      </p:sp>
      <p:sp>
        <p:nvSpPr>
          <p:cNvPr id="16" name="Text 14"/>
          <p:cNvSpPr/>
          <p:nvPr/>
        </p:nvSpPr>
        <p:spPr>
          <a:xfrm>
            <a:off x="9144000" y="1889760"/>
            <a:ext cx="26822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(stratified)</a:t>
            </a:r>
            <a:endParaRPr lang="en-US" sz="1333" dirty="0"/>
          </a:p>
        </p:txBody>
      </p:sp>
      <p:sp>
        <p:nvSpPr>
          <p:cNvPr id="17" name="Text 15"/>
          <p:cNvSpPr/>
          <p:nvPr/>
        </p:nvSpPr>
        <p:spPr>
          <a:xfrm>
            <a:off x="365760" y="2779776"/>
            <a:ext cx="7315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Pipeline</a:t>
            </a:r>
            <a:endParaRPr lang="en-US" sz="1733" dirty="0"/>
          </a:p>
        </p:txBody>
      </p:sp>
      <p:sp>
        <p:nvSpPr>
          <p:cNvPr id="18" name="Shape 16"/>
          <p:cNvSpPr/>
          <p:nvPr/>
        </p:nvSpPr>
        <p:spPr>
          <a:xfrm>
            <a:off x="365760" y="3267456"/>
            <a:ext cx="463296" cy="463296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365760" y="3267456"/>
            <a:ext cx="463296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950976" y="3316224"/>
            <a:ext cx="10972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job descriptions → Keyword matching (19 tech skills, 16 prog langs, 14 soft skills, 26 tools)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901440"/>
            <a:ext cx="463296" cy="463296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365760" y="3901440"/>
            <a:ext cx="463296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950976" y="3950208"/>
            <a:ext cx="10972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Binarization → 75 binary skill indicators + 4 ordinal ratings + 3 numerical = 82 features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535424"/>
            <a:ext cx="463296" cy="463296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365760" y="4535424"/>
            <a:ext cx="463296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950976" y="4584192"/>
            <a:ext cx="10972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|candidate rating – role benchmark median| → Low (0–0.5) / Medium (0.5–1.5) / High (&gt;1.5)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5169408"/>
            <a:ext cx="463296" cy="463296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365760" y="5169408"/>
            <a:ext cx="463296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67" dirty="0"/>
          </a:p>
        </p:txBody>
      </p:sp>
      <p:sp>
        <p:nvSpPr>
          <p:cNvPr id="29" name="Text 27"/>
          <p:cNvSpPr/>
          <p:nvPr/>
        </p:nvSpPr>
        <p:spPr>
          <a:xfrm>
            <a:off x="950976" y="5218176"/>
            <a:ext cx="10972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oversampling in training folds only — prevents data leakage on imbalanced classes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5803392"/>
            <a:ext cx="463296" cy="463296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365760" y="5803392"/>
            <a:ext cx="463296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67" dirty="0"/>
          </a:p>
        </p:txBody>
      </p:sp>
      <p:sp>
        <p:nvSpPr>
          <p:cNvPr id="32" name="Text 30"/>
          <p:cNvSpPr/>
          <p:nvPr/>
        </p:nvSpPr>
        <p:spPr>
          <a:xfrm>
            <a:off x="950976" y="5852160"/>
            <a:ext cx="10972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BERT: profiles serialised as natural language prompts for transformer fine-tuning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960" y="6364224"/>
            <a:ext cx="12192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All Three Models</a:t>
            </a:r>
            <a:endParaRPr lang="en-US" sz="2533" dirty="0"/>
          </a:p>
        </p:txBody>
      </p:sp>
      <p:sp>
        <p:nvSpPr>
          <p:cNvPr id="5" name="Shape 3"/>
          <p:cNvSpPr/>
          <p:nvPr/>
        </p:nvSpPr>
        <p:spPr>
          <a:xfrm>
            <a:off x="365760" y="999744"/>
            <a:ext cx="3657600" cy="5364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365760" y="999744"/>
            <a:ext cx="365760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67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3657600" cy="4754880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487680" y="1633728"/>
            <a:ext cx="341376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300 decision trees via bootstrapped feature subsampling.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7680" y="2560320"/>
            <a:ext cx="34137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Hyperparameters:</a:t>
            </a:r>
            <a:endParaRPr lang="en-US" sz="1333" dirty="0"/>
          </a:p>
        </p:txBody>
      </p:sp>
      <p:sp>
        <p:nvSpPr>
          <p:cNvPr id="10" name="Text 8"/>
          <p:cNvSpPr/>
          <p:nvPr/>
        </p:nvSpPr>
        <p:spPr>
          <a:xfrm>
            <a:off x="487680" y="2865120"/>
            <a:ext cx="3413760" cy="1072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 ∈ {100,200,300}</a:t>
            </a:r>
            <a:endParaRPr lang="en-US" sz="1333" dirty="0"/>
          </a:p>
          <a:p>
            <a:r>
              <a:rPr lang="en-US" sz="1333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 ∈ {None,10,20}</a:t>
            </a:r>
            <a:endParaRPr lang="en-US" sz="1333" dirty="0"/>
          </a:p>
          <a:p>
            <a:r>
              <a:rPr lang="en-US" sz="1333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min_samples_split ∈ {2,5,10}</a:t>
            </a:r>
            <a:endParaRPr lang="en-US" sz="1333" dirty="0"/>
          </a:p>
        </p:txBody>
      </p:sp>
      <p:sp>
        <p:nvSpPr>
          <p:cNvPr id="11" name="Text 9"/>
          <p:cNvSpPr/>
          <p:nvPr/>
        </p:nvSpPr>
        <p:spPr>
          <a:xfrm>
            <a:off x="487680" y="3998976"/>
            <a:ext cx="34137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chosen:</a:t>
            </a:r>
            <a:endParaRPr lang="en-US" sz="1333" dirty="0"/>
          </a:p>
        </p:txBody>
      </p:sp>
      <p:sp>
        <p:nvSpPr>
          <p:cNvPr id="12" name="Text 10"/>
          <p:cNvSpPr/>
          <p:nvPr/>
        </p:nvSpPr>
        <p:spPr>
          <a:xfrm>
            <a:off x="487680" y="4291584"/>
            <a:ext cx="341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on mixed tabular data; built-in Gini feature importance; multi-class native.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4328160" y="999744"/>
            <a:ext cx="3657600" cy="536448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4328160" y="999744"/>
            <a:ext cx="365760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— RBF Kernel</a:t>
            </a:r>
            <a:endParaRPr lang="en-US" sz="1667" dirty="0"/>
          </a:p>
        </p:txBody>
      </p:sp>
      <p:sp>
        <p:nvSpPr>
          <p:cNvPr id="15" name="Shape 13"/>
          <p:cNvSpPr/>
          <p:nvPr/>
        </p:nvSpPr>
        <p:spPr>
          <a:xfrm>
            <a:off x="4328160" y="1536192"/>
            <a:ext cx="3657600" cy="4754880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4450080" y="1633728"/>
            <a:ext cx="341376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binarised skill space to RKHS enabling non-linear decision boundaries; OvR multi-class.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50080" y="2560320"/>
            <a:ext cx="34137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Hyperparameters:</a:t>
            </a:r>
            <a:endParaRPr lang="en-US" sz="1333" dirty="0"/>
          </a:p>
        </p:txBody>
      </p:sp>
      <p:sp>
        <p:nvSpPr>
          <p:cNvPr id="18" name="Text 16"/>
          <p:cNvSpPr/>
          <p:nvPr/>
        </p:nvSpPr>
        <p:spPr>
          <a:xfrm>
            <a:off x="4450080" y="2865120"/>
            <a:ext cx="3413760" cy="1072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∈ {0.1, 1, 10}</a:t>
            </a:r>
            <a:endParaRPr lang="en-US" sz="1333" dirty="0"/>
          </a:p>
          <a:p>
            <a:r>
              <a:rPr lang="en-US" sz="1333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 ∈ {scale, auto, 0.01}</a:t>
            </a:r>
            <a:endParaRPr lang="en-US" sz="1333" dirty="0"/>
          </a:p>
        </p:txBody>
      </p:sp>
      <p:sp>
        <p:nvSpPr>
          <p:cNvPr id="19" name="Text 17"/>
          <p:cNvSpPr/>
          <p:nvPr/>
        </p:nvSpPr>
        <p:spPr>
          <a:xfrm>
            <a:off x="4450080" y="3998976"/>
            <a:ext cx="34137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chosen: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4450080" y="4291584"/>
            <a:ext cx="341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on high-dimensional sparse feature spaces; well-understood theoretical guarantees.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8290560" y="999744"/>
            <a:ext cx="3657600" cy="5364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8290560" y="999744"/>
            <a:ext cx="365760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(bert-base-uncased)</a:t>
            </a:r>
            <a:endParaRPr lang="en-US" sz="1667" dirty="0"/>
          </a:p>
        </p:txBody>
      </p:sp>
      <p:sp>
        <p:nvSpPr>
          <p:cNvPr id="23" name="Shape 21"/>
          <p:cNvSpPr/>
          <p:nvPr/>
        </p:nvSpPr>
        <p:spPr>
          <a:xfrm>
            <a:off x="8290560" y="1536192"/>
            <a:ext cx="3657600" cy="4754880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8412480" y="1633728"/>
            <a:ext cx="341376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12-layer transformer encoder fine-tuned on serialised student profile prompts with classification head.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12480" y="2560320"/>
            <a:ext cx="34137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Hyperparameters:</a:t>
            </a:r>
            <a:endParaRPr lang="en-US" sz="1333" dirty="0"/>
          </a:p>
        </p:txBody>
      </p:sp>
      <p:sp>
        <p:nvSpPr>
          <p:cNvPr id="26" name="Text 24"/>
          <p:cNvSpPr/>
          <p:nvPr/>
        </p:nvSpPr>
        <p:spPr>
          <a:xfrm>
            <a:off x="8412480" y="2865120"/>
            <a:ext cx="3413760" cy="1072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= 2×10⁻⁵, AdamW</a:t>
            </a:r>
            <a:endParaRPr lang="en-US" sz="1333" dirty="0"/>
          </a:p>
          <a:p>
            <a:r>
              <a:rPr lang="en-US" sz="1333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Warmup 10%, patience=3</a:t>
            </a:r>
            <a:endParaRPr lang="en-US" sz="1333" dirty="0"/>
          </a:p>
          <a:p>
            <a:r>
              <a:rPr lang="en-US" sz="1333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Dropout 0.1, EPOCHS=3</a:t>
            </a:r>
            <a:endParaRPr lang="en-US" sz="1333" dirty="0"/>
          </a:p>
        </p:txBody>
      </p:sp>
      <p:sp>
        <p:nvSpPr>
          <p:cNvPr id="27" name="Text 25"/>
          <p:cNvSpPr/>
          <p:nvPr/>
        </p:nvSpPr>
        <p:spPr>
          <a:xfrm>
            <a:off x="8412480" y="3998976"/>
            <a:ext cx="34137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chosen:</a:t>
            </a:r>
            <a:endParaRPr lang="en-US" sz="1333" dirty="0"/>
          </a:p>
        </p:txBody>
      </p:sp>
      <p:sp>
        <p:nvSpPr>
          <p:cNvPr id="28" name="Text 26"/>
          <p:cNvSpPr/>
          <p:nvPr/>
        </p:nvSpPr>
        <p:spPr>
          <a:xfrm>
            <a:off x="8412480" y="4291584"/>
            <a:ext cx="341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pre-trained language representations; state-of-the-art NLP baseline.</a:t>
            </a:r>
            <a:endParaRPr lang="en-US" sz="1333" dirty="0"/>
          </a:p>
        </p:txBody>
      </p:sp>
      <p:sp>
        <p:nvSpPr>
          <p:cNvPr id="29" name="Text 27"/>
          <p:cNvSpPr/>
          <p:nvPr/>
        </p:nvSpPr>
        <p:spPr>
          <a:xfrm>
            <a:off x="365760" y="6364224"/>
            <a:ext cx="11460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26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960" y="6364224"/>
            <a:ext cx="12192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Performance Comparison (Mean ± Std, 5 Seeds)</a:t>
            </a:r>
            <a:endParaRPr lang="en-US" sz="2533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033483"/>
              </p:ext>
            </p:extLst>
          </p:nvPr>
        </p:nvGraphicFramePr>
        <p:xfrm>
          <a:off x="365760" y="950976"/>
          <a:ext cx="11460480" cy="1402080"/>
        </p:xfrm>
        <a:graphic>
          <a:graphicData uri="http://schemas.openxmlformats.org/drawingml/2006/table">
            <a:tbl>
              <a:tblPr/>
              <a:tblGrid>
                <a:gridCol w="2315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4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43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8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8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94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(ms/smp)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0.847±0.012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0.921±0.008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0.851±0.011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0.843±0.013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2.3±0.4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SVM-RBF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0.821±0.015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0.908±0.010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0.826±0.014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0.817±0.016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1.8±0.3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0.836±0.019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0.914±0.013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0.840±0.018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0.832±0.020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48.7±3.1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Image 0" descr="/home/claude/graph1_model_comparis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3316224"/>
            <a:ext cx="11460480" cy="31455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6510528"/>
            <a:ext cx="1146048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— Mean F1 with error bars (left) and F1 distribution boxplot across 5 seeds (right)</a:t>
            </a:r>
            <a:endParaRPr lang="en-US" sz="1133" dirty="0"/>
          </a:p>
        </p:txBody>
      </p:sp>
      <p:pic>
        <p:nvPicPr>
          <p:cNvPr id="5" name="Image 0" descr="/home/claude/graph1_model_comparison.png">
            <a:extLst>
              <a:ext uri="{FF2B5EF4-FFF2-40B4-BE49-F238E27FC236}">
                <a16:creationId xmlns:a16="http://schemas.microsoft.com/office/drawing/2014/main" id="{2F1D851A-257C-F28E-2242-7618BE80BB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8960" y="3519424"/>
            <a:ext cx="11460480" cy="31455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960" y="6364224"/>
            <a:ext cx="12192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Feature Importance &amp; Per-Class F1</a:t>
            </a:r>
            <a:endParaRPr lang="en-US" sz="2533" dirty="0"/>
          </a:p>
        </p:txBody>
      </p:sp>
      <p:pic>
        <p:nvPicPr>
          <p:cNvPr id="5" name="Image 0" descr="/home/claude/graph5_feature_importa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4800" y="877824"/>
            <a:ext cx="11582400" cy="53888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339840"/>
            <a:ext cx="1146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 — RF Gini: Tech Rating (18.3%) and Soft Skills (14.2%) dominate. Per-class F1: High severity is consistently hardest (F1 = 0.74–0.79) across all models.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960" y="6364224"/>
            <a:ext cx="12192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&amp; Mitigation</a:t>
            </a:r>
            <a:endParaRPr lang="en-US" sz="2533" dirty="0"/>
          </a:p>
        </p:txBody>
      </p:sp>
      <p:sp>
        <p:nvSpPr>
          <p:cNvPr id="5" name="Shape 3"/>
          <p:cNvSpPr/>
          <p:nvPr/>
        </p:nvSpPr>
        <p:spPr>
          <a:xfrm>
            <a:off x="487680" y="1024128"/>
            <a:ext cx="11216640" cy="1731264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707136" y="1121664"/>
            <a:ext cx="1072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Medium ↔ High Boundary Confusion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7136" y="1511808"/>
            <a:ext cx="60960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at the exact threshold (rating gap ≈ 0.49) are inconsistently classified. Fixed cutpoints are sensitive to small deviations.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71360" y="1121664"/>
            <a:ext cx="4389120" cy="151180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7193280" y="1170432"/>
            <a:ext cx="41452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Adaptive quantile-based severity thresholds instead of fixed cutpoints.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7680" y="2913888"/>
            <a:ext cx="11216640" cy="1731264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707136" y="3011424"/>
            <a:ext cx="1072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Niche Tool Blindspot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7136" y="3401568"/>
            <a:ext cx="60960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Postings requiring Kafka, Airflow, Snowflake are underrepresented in the taxonomy, causing systematic severity underestimation for data engineering roles.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71360" y="3011424"/>
            <a:ext cx="4389120" cy="151180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7193280" y="3060192"/>
            <a:ext cx="41452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Expand tool taxonomy to 50+ data pipeline &amp; MLOps tools.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7680" y="4803648"/>
            <a:ext cx="11216640" cy="1731264"/>
          </a:xfrm>
          <a:prstGeom prst="rect">
            <a:avLst/>
          </a:prstGeom>
          <a:solidFill>
            <a:srgbClr val="E8EA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707136" y="4901184"/>
            <a:ext cx="1072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BERT Short-Prompt Failure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7136" y="5291328"/>
            <a:ext cx="60960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Serialised profiles with fewer than 12 tokens trigger near-random BERT predictions due to insufficient input context for the attention mechanism.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071360" y="4901184"/>
            <a:ext cx="4389120" cy="151180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7193280" y="4949952"/>
            <a:ext cx="41452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Enforce minimum token length filter; pad or augment short profiles before inference.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960" y="6364224"/>
            <a:ext cx="12192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— Streamlit Skill Gap Analyser</a:t>
            </a:r>
            <a:endParaRPr lang="en-US" sz="2533" dirty="0"/>
          </a:p>
        </p:txBody>
      </p:sp>
      <p:sp>
        <p:nvSpPr>
          <p:cNvPr id="5" name="Shape 3"/>
          <p:cNvSpPr/>
          <p:nvPr/>
        </p:nvSpPr>
        <p:spPr>
          <a:xfrm>
            <a:off x="365760" y="999744"/>
            <a:ext cx="2682240" cy="1889760"/>
          </a:xfrm>
          <a:prstGeom prst="rect">
            <a:avLst/>
          </a:prstGeom>
          <a:solidFill>
            <a:srgbClr val="1E2761"/>
          </a:solidFill>
          <a:ln/>
          <a:effectLst>
            <a:outerShdw blurRad="63500" dist="25400" dir="81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26822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933" dirty="0"/>
          </a:p>
        </p:txBody>
      </p:sp>
      <p:sp>
        <p:nvSpPr>
          <p:cNvPr id="7" name="Text 5"/>
          <p:cNvSpPr/>
          <p:nvPr/>
        </p:nvSpPr>
        <p:spPr>
          <a:xfrm>
            <a:off x="365760" y="1584960"/>
            <a:ext cx="26822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Ingestion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365760" y="1975104"/>
            <a:ext cx="26822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/ TXT upload or paste</a:t>
            </a:r>
            <a:endParaRPr lang="en-US" sz="1267" dirty="0"/>
          </a:p>
        </p:txBody>
      </p:sp>
      <p:sp>
        <p:nvSpPr>
          <p:cNvPr id="9" name="Text 7"/>
          <p:cNvSpPr/>
          <p:nvPr/>
        </p:nvSpPr>
        <p:spPr>
          <a:xfrm>
            <a:off x="3048000" y="1584960"/>
            <a:ext cx="268224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133" dirty="0"/>
          </a:p>
        </p:txBody>
      </p:sp>
      <p:sp>
        <p:nvSpPr>
          <p:cNvPr id="10" name="Shape 8"/>
          <p:cNvSpPr/>
          <p:nvPr/>
        </p:nvSpPr>
        <p:spPr>
          <a:xfrm>
            <a:off x="3316224" y="999744"/>
            <a:ext cx="2682240" cy="1889760"/>
          </a:xfrm>
          <a:prstGeom prst="rect">
            <a:avLst/>
          </a:prstGeom>
          <a:solidFill>
            <a:srgbClr val="1E2761"/>
          </a:solidFill>
          <a:ln/>
          <a:effectLst>
            <a:outerShdw blurRad="63500" dist="25400" dir="81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3316224" y="1097280"/>
            <a:ext cx="26822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933" dirty="0"/>
          </a:p>
        </p:txBody>
      </p:sp>
      <p:sp>
        <p:nvSpPr>
          <p:cNvPr id="12" name="Text 10"/>
          <p:cNvSpPr/>
          <p:nvPr/>
        </p:nvSpPr>
        <p:spPr>
          <a:xfrm>
            <a:off x="3316224" y="1584960"/>
            <a:ext cx="26822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Extraction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3316224" y="1975104"/>
            <a:ext cx="26822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parser against 75-feature taxonomy</a:t>
            </a:r>
            <a:endParaRPr lang="en-US" sz="1267" dirty="0"/>
          </a:p>
        </p:txBody>
      </p:sp>
      <p:sp>
        <p:nvSpPr>
          <p:cNvPr id="14" name="Text 12"/>
          <p:cNvSpPr/>
          <p:nvPr/>
        </p:nvSpPr>
        <p:spPr>
          <a:xfrm>
            <a:off x="5998464" y="1584960"/>
            <a:ext cx="268224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133" dirty="0"/>
          </a:p>
        </p:txBody>
      </p:sp>
      <p:sp>
        <p:nvSpPr>
          <p:cNvPr id="15" name="Shape 13"/>
          <p:cNvSpPr/>
          <p:nvPr/>
        </p:nvSpPr>
        <p:spPr>
          <a:xfrm>
            <a:off x="6266688" y="999744"/>
            <a:ext cx="2682240" cy="1889760"/>
          </a:xfrm>
          <a:prstGeom prst="rect">
            <a:avLst/>
          </a:prstGeom>
          <a:solidFill>
            <a:srgbClr val="1E2761"/>
          </a:solidFill>
          <a:ln/>
          <a:effectLst>
            <a:outerShdw blurRad="63500" dist="25400" dir="81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6266688" y="1097280"/>
            <a:ext cx="26822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933" dirty="0"/>
          </a:p>
        </p:txBody>
      </p:sp>
      <p:sp>
        <p:nvSpPr>
          <p:cNvPr id="17" name="Text 15"/>
          <p:cNvSpPr/>
          <p:nvPr/>
        </p:nvSpPr>
        <p:spPr>
          <a:xfrm>
            <a:off x="6266688" y="1584960"/>
            <a:ext cx="26822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Computation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6266688" y="1975104"/>
            <a:ext cx="26822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difference vs LinkedIn benchmark profiles</a:t>
            </a:r>
            <a:endParaRPr lang="en-US" sz="1267" dirty="0"/>
          </a:p>
        </p:txBody>
      </p:sp>
      <p:sp>
        <p:nvSpPr>
          <p:cNvPr id="19" name="Text 17"/>
          <p:cNvSpPr/>
          <p:nvPr/>
        </p:nvSpPr>
        <p:spPr>
          <a:xfrm>
            <a:off x="8948928" y="1584960"/>
            <a:ext cx="268224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133" dirty="0"/>
          </a:p>
        </p:txBody>
      </p:sp>
      <p:sp>
        <p:nvSpPr>
          <p:cNvPr id="20" name="Shape 18"/>
          <p:cNvSpPr/>
          <p:nvPr/>
        </p:nvSpPr>
        <p:spPr>
          <a:xfrm>
            <a:off x="9217152" y="999744"/>
            <a:ext cx="2682240" cy="1889760"/>
          </a:xfrm>
          <a:prstGeom prst="rect">
            <a:avLst/>
          </a:prstGeom>
          <a:solidFill>
            <a:srgbClr val="1E2761"/>
          </a:solidFill>
          <a:ln/>
          <a:effectLst>
            <a:outerShdw blurRad="63500" dist="25400" dir="81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9217152" y="1097280"/>
            <a:ext cx="26822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933" dirty="0"/>
          </a:p>
        </p:txBody>
      </p:sp>
      <p:sp>
        <p:nvSpPr>
          <p:cNvPr id="22" name="Text 20"/>
          <p:cNvSpPr/>
          <p:nvPr/>
        </p:nvSpPr>
        <p:spPr>
          <a:xfrm>
            <a:off x="9217152" y="1584960"/>
            <a:ext cx="26822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9217152" y="1975104"/>
            <a:ext cx="26822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Action Plan + Recommendations</a:t>
            </a:r>
            <a:endParaRPr lang="en-US" sz="1267" dirty="0"/>
          </a:p>
        </p:txBody>
      </p:sp>
      <p:sp>
        <p:nvSpPr>
          <p:cNvPr id="24" name="Shape 22"/>
          <p:cNvSpPr/>
          <p:nvPr/>
        </p:nvSpPr>
        <p:spPr>
          <a:xfrm>
            <a:off x="365760" y="3108960"/>
            <a:ext cx="3718560" cy="1645920"/>
          </a:xfrm>
          <a:prstGeom prst="rect">
            <a:avLst/>
          </a:prstGeom>
          <a:solidFill>
            <a:srgbClr val="ECEFF1"/>
          </a:solidFill>
          <a:ln/>
          <a:effectLst>
            <a:outerShdw blurRad="50800" dist="25400" dir="8100000" algn="bl" rotWithShape="0">
              <a:srgbClr val="AAAAAA">
                <a:alpha val="1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365760" y="3108960"/>
            <a:ext cx="3718560" cy="4267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487680" y="3108960"/>
            <a:ext cx="3474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Benchmark</a:t>
            </a:r>
            <a:endParaRPr lang="en-US" sz="1467" dirty="0"/>
          </a:p>
        </p:txBody>
      </p:sp>
      <p:sp>
        <p:nvSpPr>
          <p:cNvPr id="27" name="Text 25"/>
          <p:cNvSpPr/>
          <p:nvPr/>
        </p:nvSpPr>
        <p:spPr>
          <a:xfrm>
            <a:off x="487680" y="3572256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careers from LinkedIn postings; 15% appearance threshold; cached via @st.cache_resource</a:t>
            </a:r>
            <a:endParaRPr lang="en-US" sz="1333" dirty="0"/>
          </a:p>
        </p:txBody>
      </p:sp>
      <p:sp>
        <p:nvSpPr>
          <p:cNvPr id="28" name="Shape 26"/>
          <p:cNvSpPr/>
          <p:nvPr/>
        </p:nvSpPr>
        <p:spPr>
          <a:xfrm>
            <a:off x="4328160" y="3108960"/>
            <a:ext cx="3718560" cy="1645920"/>
          </a:xfrm>
          <a:prstGeom prst="rect">
            <a:avLst/>
          </a:prstGeom>
          <a:solidFill>
            <a:srgbClr val="ECEFF1"/>
          </a:solidFill>
          <a:ln/>
          <a:effectLst>
            <a:outerShdw blurRad="50800" dist="25400" dir="8100000" algn="bl" rotWithShape="0">
              <a:srgbClr val="AAAAAA">
                <a:alpha val="1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9" name="Shape 27"/>
          <p:cNvSpPr/>
          <p:nvPr/>
        </p:nvSpPr>
        <p:spPr>
          <a:xfrm>
            <a:off x="4328160" y="3108960"/>
            <a:ext cx="3718560" cy="426720"/>
          </a:xfrm>
          <a:prstGeom prst="rect">
            <a:avLst/>
          </a:prstGeom>
          <a:solidFill>
            <a:srgbClr val="00838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4450080" y="3108960"/>
            <a:ext cx="3474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Dashboard</a:t>
            </a:r>
            <a:endParaRPr lang="en-US" sz="1467" dirty="0"/>
          </a:p>
        </p:txBody>
      </p:sp>
      <p:sp>
        <p:nvSpPr>
          <p:cNvPr id="31" name="Text 29"/>
          <p:cNvSpPr/>
          <p:nvPr/>
        </p:nvSpPr>
        <p:spPr>
          <a:xfrm>
            <a:off x="4450080" y="3572256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chart, grouped bar, severity meter, top-8 missing skills — 4 matplotlib charts per analysis</a:t>
            </a:r>
            <a:endParaRPr lang="en-US" sz="1333" dirty="0"/>
          </a:p>
        </p:txBody>
      </p:sp>
      <p:sp>
        <p:nvSpPr>
          <p:cNvPr id="32" name="Shape 30"/>
          <p:cNvSpPr/>
          <p:nvPr/>
        </p:nvSpPr>
        <p:spPr>
          <a:xfrm>
            <a:off x="8290560" y="3108960"/>
            <a:ext cx="3718560" cy="1645920"/>
          </a:xfrm>
          <a:prstGeom prst="rect">
            <a:avLst/>
          </a:prstGeom>
          <a:solidFill>
            <a:srgbClr val="ECEFF1"/>
          </a:solidFill>
          <a:ln/>
          <a:effectLst>
            <a:outerShdw blurRad="50800" dist="25400" dir="8100000" algn="bl" rotWithShape="0">
              <a:srgbClr val="AAAAAA">
                <a:alpha val="1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3" name="Shape 31"/>
          <p:cNvSpPr/>
          <p:nvPr/>
        </p:nvSpPr>
        <p:spPr>
          <a:xfrm>
            <a:off x="8290560" y="3108960"/>
            <a:ext cx="3718560" cy="42672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4" name="Text 32"/>
          <p:cNvSpPr/>
          <p:nvPr/>
        </p:nvSpPr>
        <p:spPr>
          <a:xfrm>
            <a:off x="8412480" y="3108960"/>
            <a:ext cx="3474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Badges</a:t>
            </a:r>
            <a:endParaRPr lang="en-US" sz="1467" dirty="0"/>
          </a:p>
        </p:txBody>
      </p:sp>
      <p:sp>
        <p:nvSpPr>
          <p:cNvPr id="35" name="Text 33"/>
          <p:cNvSpPr/>
          <p:nvPr/>
        </p:nvSpPr>
        <p:spPr>
          <a:xfrm>
            <a:off x="8412480" y="3572256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(green), missing (red), bonus (blue) colour-coded skill pills per category</a:t>
            </a:r>
            <a:endParaRPr lang="en-US" sz="1333" dirty="0"/>
          </a:p>
        </p:txBody>
      </p:sp>
      <p:sp>
        <p:nvSpPr>
          <p:cNvPr id="36" name="Shape 34"/>
          <p:cNvSpPr/>
          <p:nvPr/>
        </p:nvSpPr>
        <p:spPr>
          <a:xfrm>
            <a:off x="365760" y="4876800"/>
            <a:ext cx="3718560" cy="1645920"/>
          </a:xfrm>
          <a:prstGeom prst="rect">
            <a:avLst/>
          </a:prstGeom>
          <a:solidFill>
            <a:srgbClr val="ECEFF1"/>
          </a:solidFill>
          <a:ln/>
          <a:effectLst>
            <a:outerShdw blurRad="50800" dist="25400" dir="8100000" algn="bl" rotWithShape="0">
              <a:srgbClr val="AAAAAA">
                <a:alpha val="1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7" name="Shape 35"/>
          <p:cNvSpPr/>
          <p:nvPr/>
        </p:nvSpPr>
        <p:spPr>
          <a:xfrm>
            <a:off x="365760" y="4876800"/>
            <a:ext cx="3718560" cy="426720"/>
          </a:xfrm>
          <a:prstGeom prst="rect">
            <a:avLst/>
          </a:prstGeom>
          <a:solidFill>
            <a:srgbClr val="FB8C0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8" name="Text 36"/>
          <p:cNvSpPr/>
          <p:nvPr/>
        </p:nvSpPr>
        <p:spPr>
          <a:xfrm>
            <a:off x="487680" y="4876800"/>
            <a:ext cx="3474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467" dirty="0"/>
          </a:p>
        </p:txBody>
      </p:sp>
      <p:sp>
        <p:nvSpPr>
          <p:cNvPr id="39" name="Text 37"/>
          <p:cNvSpPr/>
          <p:nvPr/>
        </p:nvSpPr>
        <p:spPr>
          <a:xfrm>
            <a:off x="487680" y="5340096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severity-aware plan: 2–4 wks Low · 4–8 wks Medium · 10–14 wks High</a:t>
            </a:r>
            <a:endParaRPr lang="en-US" sz="1333" dirty="0"/>
          </a:p>
        </p:txBody>
      </p:sp>
      <p:sp>
        <p:nvSpPr>
          <p:cNvPr id="40" name="Shape 38"/>
          <p:cNvSpPr/>
          <p:nvPr/>
        </p:nvSpPr>
        <p:spPr>
          <a:xfrm>
            <a:off x="4328160" y="4876800"/>
            <a:ext cx="3718560" cy="1645920"/>
          </a:xfrm>
          <a:prstGeom prst="rect">
            <a:avLst/>
          </a:prstGeom>
          <a:solidFill>
            <a:srgbClr val="ECEFF1"/>
          </a:solidFill>
          <a:ln/>
          <a:effectLst>
            <a:outerShdw blurRad="50800" dist="25400" dir="8100000" algn="bl" rotWithShape="0">
              <a:srgbClr val="AAAAAA">
                <a:alpha val="1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1" name="Shape 39"/>
          <p:cNvSpPr/>
          <p:nvPr/>
        </p:nvSpPr>
        <p:spPr>
          <a:xfrm>
            <a:off x="4328160" y="4876800"/>
            <a:ext cx="3718560" cy="42672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2" name="Text 40"/>
          <p:cNvSpPr/>
          <p:nvPr/>
        </p:nvSpPr>
        <p:spPr>
          <a:xfrm>
            <a:off x="4450080" y="4876800"/>
            <a:ext cx="3474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Recs</a:t>
            </a:r>
            <a:endParaRPr lang="en-US" sz="1467" dirty="0"/>
          </a:p>
        </p:txBody>
      </p:sp>
      <p:sp>
        <p:nvSpPr>
          <p:cNvPr id="43" name="Text 41"/>
          <p:cNvSpPr/>
          <p:nvPr/>
        </p:nvSpPr>
        <p:spPr>
          <a:xfrm>
            <a:off x="4450080" y="5340096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resources (Coursera, Kaggle, fast.ai, HuggingFace) tagged FREE / PAID per missing skill</a:t>
            </a:r>
            <a:endParaRPr lang="en-US" sz="1333" dirty="0"/>
          </a:p>
        </p:txBody>
      </p:sp>
      <p:sp>
        <p:nvSpPr>
          <p:cNvPr id="44" name="Shape 42"/>
          <p:cNvSpPr/>
          <p:nvPr/>
        </p:nvSpPr>
        <p:spPr>
          <a:xfrm>
            <a:off x="8290560" y="4876800"/>
            <a:ext cx="3718560" cy="1645920"/>
          </a:xfrm>
          <a:prstGeom prst="rect">
            <a:avLst/>
          </a:prstGeom>
          <a:solidFill>
            <a:srgbClr val="ECEFF1"/>
          </a:solidFill>
          <a:ln/>
          <a:effectLst>
            <a:outerShdw blurRad="50800" dist="25400" dir="8100000" algn="bl" rotWithShape="0">
              <a:srgbClr val="AAAAAA">
                <a:alpha val="1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5" name="Shape 43"/>
          <p:cNvSpPr/>
          <p:nvPr/>
        </p:nvSpPr>
        <p:spPr>
          <a:xfrm>
            <a:off x="8290560" y="4876800"/>
            <a:ext cx="3718560" cy="426720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6" name="Text 44"/>
          <p:cNvSpPr/>
          <p:nvPr/>
        </p:nvSpPr>
        <p:spPr>
          <a:xfrm>
            <a:off x="8412480" y="4876800"/>
            <a:ext cx="3474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67" dirty="0"/>
          </a:p>
        </p:txBody>
      </p:sp>
      <p:sp>
        <p:nvSpPr>
          <p:cNvPr id="47" name="Text 45"/>
          <p:cNvSpPr/>
          <p:nvPr/>
        </p:nvSpPr>
        <p:spPr>
          <a:xfrm>
            <a:off x="8412480" y="5340096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≥1.32 · pdfplumber · python-docx · matplotlib — launch: streamlit run app.py</a:t>
            </a:r>
            <a:endParaRPr lang="en-US" sz="133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960" y="6364224"/>
            <a:ext cx="12192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— User Workflow</a:t>
            </a:r>
            <a:endParaRPr lang="en-US" sz="2533" dirty="0"/>
          </a:p>
        </p:txBody>
      </p:sp>
      <p:sp>
        <p:nvSpPr>
          <p:cNvPr id="5" name="Shape 3"/>
          <p:cNvSpPr/>
          <p:nvPr/>
        </p:nvSpPr>
        <p:spPr>
          <a:xfrm>
            <a:off x="365760" y="999744"/>
            <a:ext cx="670560" cy="67056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365760" y="999744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33" dirty="0"/>
          </a:p>
        </p:txBody>
      </p:sp>
      <p:sp>
        <p:nvSpPr>
          <p:cNvPr id="7" name="Shape 5"/>
          <p:cNvSpPr/>
          <p:nvPr/>
        </p:nvSpPr>
        <p:spPr>
          <a:xfrm>
            <a:off x="1158240" y="999744"/>
            <a:ext cx="10668000" cy="950976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1341120" y="1072896"/>
            <a:ext cx="103632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Select Career</a:t>
            </a:r>
            <a:endParaRPr lang="en-US" sz="1533" dirty="0"/>
          </a:p>
        </p:txBody>
      </p:sp>
      <p:sp>
        <p:nvSpPr>
          <p:cNvPr id="9" name="Text 7"/>
          <p:cNvSpPr/>
          <p:nvPr/>
        </p:nvSpPr>
        <p:spPr>
          <a:xfrm>
            <a:off x="1341120" y="1438656"/>
            <a:ext cx="1036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picks target role from sidebar (Data Scientist, AI Engineer, Software Developer etc.). Benchmark stats from real LinkedIn postings shown instantly.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670560" cy="67056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365760" y="2121408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33" dirty="0"/>
          </a:p>
        </p:txBody>
      </p:sp>
      <p:sp>
        <p:nvSpPr>
          <p:cNvPr id="12" name="Shape 10"/>
          <p:cNvSpPr/>
          <p:nvPr/>
        </p:nvSpPr>
        <p:spPr>
          <a:xfrm>
            <a:off x="1158240" y="2121408"/>
            <a:ext cx="10668000" cy="950976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1341120" y="2194560"/>
            <a:ext cx="103632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Upload CV</a:t>
            </a:r>
            <a:endParaRPr lang="en-US" sz="1533" dirty="0"/>
          </a:p>
        </p:txBody>
      </p:sp>
      <p:sp>
        <p:nvSpPr>
          <p:cNvPr id="14" name="Text 12"/>
          <p:cNvSpPr/>
          <p:nvPr/>
        </p:nvSpPr>
        <p:spPr>
          <a:xfrm>
            <a:off x="1341120" y="2560320"/>
            <a:ext cx="1036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 / DOCX / TXT or paste CV text. Skill parser extracts tech skills, programming languages, soft skills, and tools automatically.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243072"/>
            <a:ext cx="670560" cy="67056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365760" y="3243072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133" dirty="0"/>
          </a:p>
        </p:txBody>
      </p:sp>
      <p:sp>
        <p:nvSpPr>
          <p:cNvPr id="17" name="Shape 15"/>
          <p:cNvSpPr/>
          <p:nvPr/>
        </p:nvSpPr>
        <p:spPr>
          <a:xfrm>
            <a:off x="1158240" y="3243072"/>
            <a:ext cx="10668000" cy="950976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1341120" y="3316224"/>
            <a:ext cx="103632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Run Analysis</a:t>
            </a:r>
            <a:endParaRPr lang="en-US" sz="1533" dirty="0"/>
          </a:p>
        </p:txBody>
      </p:sp>
      <p:sp>
        <p:nvSpPr>
          <p:cNvPr id="19" name="Text 17"/>
          <p:cNvSpPr/>
          <p:nvPr/>
        </p:nvSpPr>
        <p:spPr>
          <a:xfrm>
            <a:off x="1341120" y="3681984"/>
            <a:ext cx="1036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'Analyse My Skill Gap'. The gap engine computes coverage %, severity level, matched vs. missing skills per category.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364736"/>
            <a:ext cx="670560" cy="67056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365760" y="4364736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33" dirty="0"/>
          </a:p>
        </p:txBody>
      </p:sp>
      <p:sp>
        <p:nvSpPr>
          <p:cNvPr id="22" name="Shape 20"/>
          <p:cNvSpPr/>
          <p:nvPr/>
        </p:nvSpPr>
        <p:spPr>
          <a:xfrm>
            <a:off x="1158240" y="4364736"/>
            <a:ext cx="10668000" cy="950976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1341120" y="4437888"/>
            <a:ext cx="103632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View Dashboard</a:t>
            </a:r>
            <a:endParaRPr lang="en-US" sz="1533" dirty="0"/>
          </a:p>
        </p:txBody>
      </p:sp>
      <p:sp>
        <p:nvSpPr>
          <p:cNvPr id="24" name="Text 22"/>
          <p:cNvSpPr/>
          <p:nvPr/>
        </p:nvSpPr>
        <p:spPr>
          <a:xfrm>
            <a:off x="1341120" y="4803648"/>
            <a:ext cx="1036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charts rendered: skill coverage donut, category breakdown bar, severity meter, and top-8 skills to acquire — with colour-coded badges.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5486400"/>
            <a:ext cx="670560" cy="67056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365760" y="5486400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33" dirty="0"/>
          </a:p>
        </p:txBody>
      </p:sp>
      <p:sp>
        <p:nvSpPr>
          <p:cNvPr id="27" name="Shape 25"/>
          <p:cNvSpPr/>
          <p:nvPr/>
        </p:nvSpPr>
        <p:spPr>
          <a:xfrm>
            <a:off x="1158240" y="5486400"/>
            <a:ext cx="10668000" cy="950976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1341120" y="5559552"/>
            <a:ext cx="103632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Get Action Plan</a:t>
            </a:r>
            <a:endParaRPr lang="en-US" sz="1533" dirty="0"/>
          </a:p>
        </p:txBody>
      </p:sp>
      <p:sp>
        <p:nvSpPr>
          <p:cNvPr id="29" name="Text 27"/>
          <p:cNvSpPr/>
          <p:nvPr/>
        </p:nvSpPr>
        <p:spPr>
          <a:xfrm>
            <a:off x="1341120" y="5925312"/>
            <a:ext cx="1036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5-step plan + per-skill course recommendations (FREE/PAID) + estimated learning timeline based on severity.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960" y="6364224"/>
            <a:ext cx="12192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533" dirty="0"/>
          </a:p>
        </p:txBody>
      </p:sp>
      <p:sp>
        <p:nvSpPr>
          <p:cNvPr id="5" name="Text 3"/>
          <p:cNvSpPr/>
          <p:nvPr/>
        </p:nvSpPr>
        <p:spPr>
          <a:xfrm>
            <a:off x="487680" y="999744"/>
            <a:ext cx="56083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867" dirty="0"/>
          </a:p>
        </p:txBody>
      </p:sp>
      <p:sp>
        <p:nvSpPr>
          <p:cNvPr id="6" name="Shape 4"/>
          <p:cNvSpPr/>
          <p:nvPr/>
        </p:nvSpPr>
        <p:spPr>
          <a:xfrm>
            <a:off x="487680" y="1487424"/>
            <a:ext cx="414528" cy="414528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487680" y="1487424"/>
            <a:ext cx="41452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1524000"/>
            <a:ext cx="1072896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best macro F1 (0.847), AUC 0.921, latency 2.3 ms — recommended for real-time advisory.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7680" y="2255520"/>
            <a:ext cx="414528" cy="414528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487680" y="2255520"/>
            <a:ext cx="41452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4128" y="2292096"/>
            <a:ext cx="1072896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competitive (F1 0.836) but 21× slower on CPU — suited for offline batch advisory processing.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7680" y="3023616"/>
            <a:ext cx="414528" cy="414528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487680" y="3023616"/>
            <a:ext cx="41452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4128" y="3060192"/>
            <a:ext cx="1072896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Skill Rating is the single strongest predictor (Gini importance 18.3%); Soft Skills rank 2nd (14.2%).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7680" y="3791712"/>
            <a:ext cx="414528" cy="414528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487680" y="3791712"/>
            <a:ext cx="41452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4128" y="3828288"/>
            <a:ext cx="1072896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raised High-class F1 from 0.61 → 0.79, confirming necessity of oversampling for minority class.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7680" y="4559808"/>
            <a:ext cx="414528" cy="414528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487680" y="4559808"/>
            <a:ext cx="41452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24128" y="4596384"/>
            <a:ext cx="1072896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vs SVM (p=0.021) and SVM vs BERT (p=0.038) statistically significant; RF vs BERT not (p=0.083).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7680" y="5327904"/>
            <a:ext cx="414528" cy="414528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487680" y="5327904"/>
            <a:ext cx="41452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24128" y="5364480"/>
            <a:ext cx="1072896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operationalised as a Streamlit app delivering real-time, CV-driven skill gap analysis.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960" y="6364224"/>
            <a:ext cx="12192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604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533" dirty="0"/>
          </a:p>
        </p:txBody>
      </p:sp>
      <p:sp>
        <p:nvSpPr>
          <p:cNvPr id="5" name="Shape 3"/>
          <p:cNvSpPr/>
          <p:nvPr/>
        </p:nvSpPr>
        <p:spPr>
          <a:xfrm>
            <a:off x="365760" y="999744"/>
            <a:ext cx="11460480" cy="1706880"/>
          </a:xfrm>
          <a:prstGeom prst="rect">
            <a:avLst/>
          </a:prstGeom>
          <a:solidFill>
            <a:srgbClr val="ECEFF1"/>
          </a:solidFill>
          <a:ln/>
          <a:effectLst>
            <a:outerShdw blurRad="50800" dist="25400" dir="8100000" algn="bl" rotWithShape="0">
              <a:srgbClr val="BBBBBB">
                <a:alpha val="1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365760" y="999744"/>
            <a:ext cx="146304" cy="170688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633984" y="1121664"/>
            <a:ext cx="109728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Real-Time Job Matching</a:t>
            </a:r>
            <a:endParaRPr lang="en-US" sz="1667" dirty="0"/>
          </a:p>
        </p:txBody>
      </p:sp>
      <p:sp>
        <p:nvSpPr>
          <p:cNvPr id="8" name="Text 6"/>
          <p:cNvSpPr/>
          <p:nvPr/>
        </p:nvSpPr>
        <p:spPr>
          <a:xfrm>
            <a:off x="633984" y="1536192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live APIs from LinkedIn, Indeed, Glassdoor and other job boards to cross-reference the user's CV and target role against current vacancies — surfacing actively hiring positions whose skill requirements match the candidate's existing profile, ensuring recommendations reflect today's live job market.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889504"/>
            <a:ext cx="11460480" cy="1706880"/>
          </a:xfrm>
          <a:prstGeom prst="rect">
            <a:avLst/>
          </a:prstGeom>
          <a:solidFill>
            <a:srgbClr val="ECEFF1"/>
          </a:solidFill>
          <a:ln/>
          <a:effectLst>
            <a:outerShdw blurRad="50800" dist="25400" dir="8100000" algn="bl" rotWithShape="0">
              <a:srgbClr val="BBBBBB">
                <a:alpha val="1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365760" y="2889504"/>
            <a:ext cx="146304" cy="17068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33984" y="3011424"/>
            <a:ext cx="109728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ATS-Optimised Resume Generation</a:t>
            </a:r>
            <a:endParaRPr lang="en-US" sz="1667" dirty="0"/>
          </a:p>
        </p:txBody>
      </p:sp>
      <p:sp>
        <p:nvSpPr>
          <p:cNvPr id="12" name="Text 10"/>
          <p:cNvSpPr/>
          <p:nvPr/>
        </p:nvSpPr>
        <p:spPr>
          <a:xfrm>
            <a:off x="633984" y="3425952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the skill gap output, LinkedIn benchmark profiles, and RF feature importance rankings to automatically build a personalised, role-specific resume — injecting highest-weighted keywords, structuring sections in ATS-preferred order, quantifying skill claims, and computing a predicted ATS compatibility score to maximise shortlisting probability.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4779264"/>
            <a:ext cx="11460480" cy="1706880"/>
          </a:xfrm>
          <a:prstGeom prst="rect">
            <a:avLst/>
          </a:prstGeom>
          <a:solidFill>
            <a:srgbClr val="ECEFF1"/>
          </a:solidFill>
          <a:ln/>
          <a:effectLst>
            <a:outerShdw blurRad="50800" dist="25400" dir="8100000" algn="bl" rotWithShape="0">
              <a:srgbClr val="BBBBBB">
                <a:alpha val="1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Shape 12"/>
          <p:cNvSpPr/>
          <p:nvPr/>
        </p:nvSpPr>
        <p:spPr>
          <a:xfrm>
            <a:off x="365760" y="4779264"/>
            <a:ext cx="146304" cy="17068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633984" y="4901184"/>
            <a:ext cx="109728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Additional Planned Directions</a:t>
            </a:r>
            <a:endParaRPr lang="en-US" sz="1667" dirty="0"/>
          </a:p>
        </p:txBody>
      </p:sp>
      <p:sp>
        <p:nvSpPr>
          <p:cNvPr id="16" name="Text 14"/>
          <p:cNvSpPr/>
          <p:nvPr/>
        </p:nvSpPr>
        <p:spPr>
          <a:xfrm>
            <a:off x="633984" y="5315712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Replace keyword matching with a fine-tuned NER model for contextual skill extraction. (2) Multilingual expansion via XLM-RoBERTa for non-English job markets. (3) Longitudinal validation of severity predictions against real employment outcomes. (4) Fairness audit to detect and mitigate demographic bias in model classifications.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608" y="2426208"/>
            <a:ext cx="97536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219200" y="310896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933" dirty="0"/>
          </a:p>
        </p:txBody>
      </p:sp>
      <p:sp>
        <p:nvSpPr>
          <p:cNvPr id="16" name="Shape 14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365760" y="6242304"/>
            <a:ext cx="114604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College of Ireland  |  MSc Artificial Intelligence  |  2025–2026</a:t>
            </a:r>
            <a:endParaRPr lang="en-US" sz="146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1587</Words>
  <Application>Microsoft Macintosh PowerPoint</Application>
  <PresentationFormat>Widescreen</PresentationFormat>
  <Paragraphs>241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sk</dc:creator>
  <cp:lastModifiedBy>master sk</cp:lastModifiedBy>
  <cp:revision>1</cp:revision>
  <dcterms:created xsi:type="dcterms:W3CDTF">2026-04-17T11:42:24Z</dcterms:created>
  <dcterms:modified xsi:type="dcterms:W3CDTF">2026-04-17T11:53:17Z</dcterms:modified>
</cp:coreProperties>
</file>